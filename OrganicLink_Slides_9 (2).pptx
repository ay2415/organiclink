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6" r:id="rId2"/>
    <p:sldId id="257" r:id="rId3"/>
    <p:sldId id="258" r:id="rId4"/>
    <p:sldId id="259" r:id="rId5"/>
    <p:sldId id="267" r:id="rId6"/>
    <p:sldId id="260" r:id="rId7"/>
    <p:sldId id="261" r:id="rId8"/>
    <p:sldId id="263" r:id="rId9"/>
    <p:sldId id="268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10"/>
  </p:normalViewPr>
  <p:slideViewPr>
    <p:cSldViewPr snapToGrid="0" snapToObjects="1">
      <p:cViewPr>
        <p:scale>
          <a:sx n="81" d="100"/>
          <a:sy n="81" d="100"/>
        </p:scale>
        <p:origin x="754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1088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068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6327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B72F0-795F-DC49-8A85-915BF0F26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936" y="5249620"/>
            <a:ext cx="7559262" cy="537713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038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E1192D-1B69-A648-85CB-F16FFBDED5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7936" y="5787333"/>
            <a:ext cx="7559262" cy="5377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2363">
                <a:solidFill>
                  <a:srgbClr val="00A956"/>
                </a:solidFill>
                <a:latin typeface="Georgia" panose="02040502050405020303" pitchFamily="18" charset="0"/>
              </a:defRPr>
            </a:lvl1pPr>
            <a:lvl2pPr marL="411589" indent="0" algn="ctr">
              <a:buNone/>
              <a:defRPr sz="1800"/>
            </a:lvl2pPr>
            <a:lvl3pPr marL="823178" indent="0" algn="ctr">
              <a:buNone/>
              <a:defRPr sz="1620"/>
            </a:lvl3pPr>
            <a:lvl4pPr marL="1234767" indent="0" algn="ctr">
              <a:buNone/>
              <a:defRPr sz="1441"/>
            </a:lvl4pPr>
            <a:lvl5pPr marL="1646356" indent="0" algn="ctr">
              <a:buNone/>
              <a:defRPr sz="1441"/>
            </a:lvl5pPr>
            <a:lvl6pPr marL="2057945" indent="0" algn="ctr">
              <a:buNone/>
              <a:defRPr sz="1441"/>
            </a:lvl6pPr>
            <a:lvl7pPr marL="2469534" indent="0" algn="ctr">
              <a:buNone/>
              <a:defRPr sz="1441"/>
            </a:lvl7pPr>
            <a:lvl8pPr marL="2881122" indent="0" algn="ctr">
              <a:buNone/>
              <a:defRPr sz="1441"/>
            </a:lvl8pPr>
            <a:lvl9pPr marL="3292712" indent="0" algn="ctr">
              <a:buNone/>
              <a:defRPr sz="144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634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FCB0A-7993-BA4C-8272-98FAE8DB73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2796" y="2561208"/>
            <a:ext cx="9337850" cy="2048965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z="4118" dirty="0"/>
              <a:t>OrganicLink</a:t>
            </a:r>
            <a:r>
              <a:rPr lang="en-US" sz="2700" dirty="0"/>
              <a:t>  </a:t>
            </a:r>
            <a:br>
              <a:rPr lang="en-US" sz="2700" dirty="0"/>
            </a:br>
            <a:r>
              <a:rPr lang="en-US" sz="2700" dirty="0"/>
              <a:t>A Computer Vision Marketplace for Irish Organic Producers with Automated Produce Quality Grading</a:t>
            </a:r>
            <a:br>
              <a:rPr lang="en-US" sz="2430" dirty="0"/>
            </a:br>
            <a:br>
              <a:rPr lang="en-US" sz="2430" dirty="0"/>
            </a:br>
            <a:r>
              <a:rPr lang="en-US" sz="2700" dirty="0"/>
              <a:t>Aashrith Sai Yamsani</a:t>
            </a:r>
            <a:br>
              <a:rPr lang="en-US" sz="2700" dirty="0"/>
            </a:br>
            <a:r>
              <a:rPr lang="en-US" sz="2700" dirty="0"/>
              <a:t>Student ID : 25287419</a:t>
            </a:r>
            <a:br>
              <a:rPr lang="en-US" sz="2700" dirty="0"/>
            </a:br>
            <a:r>
              <a:rPr lang="en-US" sz="2700" dirty="0"/>
              <a:t>Supervisor: Dr. </a:t>
            </a:r>
            <a:r>
              <a:rPr lang="en-US" sz="2700" dirty="0" err="1"/>
              <a:t>Elfed</a:t>
            </a:r>
            <a:r>
              <a:rPr lang="en-US" sz="2700" dirty="0"/>
              <a:t> Lewis</a:t>
            </a:r>
            <a:br>
              <a:rPr lang="en-US" sz="2700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394F361-F4D6-E44D-BA05-8CE0226C3547}"/>
              </a:ext>
            </a:extLst>
          </p:cNvPr>
          <p:cNvSpPr>
            <a:spLocks noGrp="1"/>
          </p:cNvSpPr>
          <p:nvPr/>
        </p:nvSpPr>
        <p:spPr>
          <a:xfrm>
            <a:off x="1286827" y="5597046"/>
            <a:ext cx="7149081" cy="776970"/>
          </a:xfrm>
          <a:prstGeom prst="rect">
            <a:avLst/>
          </a:prstGeom>
        </p:spPr>
        <p:txBody>
          <a:bodyPr vert="horz" lIns="61732" tIns="30866" rIns="61732" bIns="30866" rtlCol="0" anchor="t">
            <a:noAutofit/>
          </a:bodyPr>
          <a:lstStyle>
            <a:lvl1pPr marL="0" indent="0" algn="l" defTabSz="1219342" rtl="0" eaLnBrk="1" latinLnBrk="0" hangingPunct="1">
              <a:lnSpc>
                <a:spcPct val="90000"/>
              </a:lnSpc>
              <a:spcBef>
                <a:spcPts val="1334"/>
              </a:spcBef>
              <a:buFont typeface="Arial" panose="020B0604020202020204" pitchFamily="34" charset="0"/>
              <a:buNone/>
              <a:defRPr sz="3500" kern="1200">
                <a:solidFill>
                  <a:srgbClr val="00A956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609671" indent="0" algn="ctr" defTabSz="1219342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None/>
              <a:defRPr sz="2667" kern="1200">
                <a:solidFill>
                  <a:srgbClr val="005336"/>
                </a:solidFill>
                <a:latin typeface="Helvetica" pitchFamily="2" charset="0"/>
                <a:ea typeface="+mn-ea"/>
                <a:cs typeface="+mn-cs"/>
              </a:defRPr>
            </a:lvl2pPr>
            <a:lvl3pPr marL="1219342" indent="0" algn="ctr" defTabSz="1219342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None/>
              <a:defRPr sz="2400" kern="1200">
                <a:solidFill>
                  <a:srgbClr val="005336"/>
                </a:solidFill>
                <a:latin typeface="Helvetica" pitchFamily="2" charset="0"/>
                <a:ea typeface="+mn-ea"/>
                <a:cs typeface="+mn-cs"/>
              </a:defRPr>
            </a:lvl3pPr>
            <a:lvl4pPr marL="1829014" indent="0" algn="ctr" defTabSz="1219342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None/>
              <a:defRPr sz="2134" kern="1200">
                <a:solidFill>
                  <a:srgbClr val="005336"/>
                </a:solidFill>
                <a:latin typeface="Helvetica" pitchFamily="2" charset="0"/>
                <a:ea typeface="+mn-ea"/>
                <a:cs typeface="+mn-cs"/>
              </a:defRPr>
            </a:lvl4pPr>
            <a:lvl5pPr marL="2438685" indent="0" algn="ctr" defTabSz="1219342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None/>
              <a:defRPr sz="2134" kern="1200">
                <a:solidFill>
                  <a:srgbClr val="005336"/>
                </a:solidFill>
                <a:latin typeface="Helvetica" pitchFamily="2" charset="0"/>
                <a:ea typeface="+mn-ea"/>
                <a:cs typeface="+mn-cs"/>
              </a:defRPr>
            </a:lvl5pPr>
            <a:lvl6pPr marL="3048356" indent="0" algn="ctr" defTabSz="1219342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None/>
              <a:defRPr sz="21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027" indent="0" algn="ctr" defTabSz="1219342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None/>
              <a:defRPr sz="21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697" indent="0" algn="ctr" defTabSz="1219342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None/>
              <a:defRPr sz="21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7370" indent="0" algn="ctr" defTabSz="1219342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None/>
              <a:defRPr sz="21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890" dirty="0"/>
              <a:t>Master of Engineering in Computer Vision &amp; Artificial Intelligence</a:t>
            </a:r>
          </a:p>
          <a:p>
            <a:r>
              <a:rPr sz="1890" dirty="0"/>
              <a:t>Final </a:t>
            </a:r>
            <a:r>
              <a:rPr lang="en-IN" sz="1890" dirty="0"/>
              <a:t>P</a:t>
            </a:r>
            <a:r>
              <a:rPr sz="1890" dirty="0" err="1"/>
              <a:t>roject</a:t>
            </a:r>
            <a:r>
              <a:rPr sz="1890" dirty="0"/>
              <a:t> </a:t>
            </a:r>
            <a:r>
              <a:rPr lang="en-IN" sz="1890" dirty="0"/>
              <a:t>P</a:t>
            </a:r>
            <a:r>
              <a:rPr sz="1890" dirty="0" err="1"/>
              <a:t>resentation</a:t>
            </a:r>
            <a:r>
              <a:rPr sz="1890" dirty="0"/>
              <a:t>  |  University of Limerick</a:t>
            </a:r>
          </a:p>
        </p:txBody>
      </p:sp>
    </p:spTree>
    <p:extLst>
      <p:ext uri="{BB962C8B-B14F-4D97-AF65-F5344CB8AC3E}">
        <p14:creationId xmlns:p14="http://schemas.microsoft.com/office/powerpoint/2010/main" val="1581879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91426"/>
            <a:ext cx="44131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</a:rPr>
              <a:t>Project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46"/>
                </a:solidFill>
              </a:rPr>
              <a:t>Problem Statement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222222"/>
                </a:solidFill>
              </a:rPr>
              <a:t>Irish organic producers struggle to trade directly with buyers because quality cannot be verified at a distance. ~30% of fruit &amp; vegetables are rejected on cosmetic grounds (Irish Examiner, 2024), 122,000+ tonnes of vegetables are lost annually (EPA/DAFM, 2024), and 70% of organic lamb / 30% of organic cattle are sold as conventional, losing the premium (Agriland, 2024).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46"/>
                </a:solidFill>
              </a:rPr>
              <a:t>Project Aim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222222"/>
                </a:solidFill>
              </a:rPr>
              <a:t>Design and build a web-based marketplace that connects organic farmers directly with buyers, using computer vision to verify produce quality and to establish trust in remote transactions.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46"/>
                </a:solidFill>
              </a:rPr>
              <a:t>Key Objectives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106984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Investigate the market-access problem through literature and primary consultation (Teagasc)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Design and implement a computer-vision model for produce identification and quality grading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Design a dual-inspection protocol verifying quality at both dispatch and delivery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Extend grading to multi-item photographs via a two-stage detection and classification pipeline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Evaluate rigorously, including dataset integrity (deduplication) and honest reporting of limitations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</a:rPr>
              <a:t>2</a:t>
            </a:r>
            <a:endParaRPr lang="en-US" sz="10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9053" y="41959"/>
            <a:ext cx="2342947" cy="12884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02360"/>
            <a:ext cx="8294471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</a:rPr>
              <a:t>Project Origin: From the Digital Futures Lab to OrganicLink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Originated in the DFL (DFI Pod 2, Team 6) with the Midwest Bio District: an organic dairy coordination platform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Consulted Joe Kelleher, organic dairy specialist at </a:t>
            </a:r>
            <a:r>
              <a:rPr lang="en-US" sz="1500" dirty="0" err="1">
                <a:solidFill>
                  <a:srgbClr val="222222"/>
                </a:solidFill>
              </a:rPr>
              <a:t>Teagasc</a:t>
            </a:r>
            <a:r>
              <a:rPr lang="en-US" sz="1500" dirty="0">
                <a:solidFill>
                  <a:srgbClr val="222222"/>
                </a:solidFill>
              </a:rPr>
              <a:t> -  the national organic milk pool was too small and fragmented to justify processing investment; better coordination alone could not fix it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Pivoted to the broader, better-evidenced problem: the lack of trust and quality verification in direct organic trade — leading to OrganicLink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</a:rPr>
              <a:t>3</a:t>
            </a:r>
            <a:endParaRPr lang="en-US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EB78C5-D5E3-138A-F024-54D5280F3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9053" y="41959"/>
            <a:ext cx="2342947" cy="1288441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CF5A02BD-69EE-C901-9B20-1BFF93FF2668}"/>
              </a:ext>
            </a:extLst>
          </p:cNvPr>
          <p:cNvSpPr/>
          <p:nvPr/>
        </p:nvSpPr>
        <p:spPr>
          <a:xfrm>
            <a:off x="822960" y="3584013"/>
            <a:ext cx="11064240" cy="26025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</a:rPr>
              <a:t>Dataset</a:t>
            </a:r>
            <a:endParaRPr lang="en-US" sz="26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9C0B5F48-8341-F757-4918-36BBFC6E05D8}"/>
              </a:ext>
            </a:extLst>
          </p:cNvPr>
          <p:cNvSpPr/>
          <p:nvPr/>
        </p:nvSpPr>
        <p:spPr>
          <a:xfrm>
            <a:off x="822960" y="4119200"/>
            <a:ext cx="10698480" cy="169164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Two public Kaggle produce datasets combined: 14 product classes, binary fresh/defect labels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46,867 total images across the combined training set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Class sizes ranged from ~400 images (grape, jujube) to 7,700+ images (apple, banana, orange)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Perceptual hashing identified 34.7% near-duplicate images (16,267 of 46,867) - near-duplicate group entirely on one side, preventing leakage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Held-out test set: 2,929 images,  never seen during training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A third public dataset was assessed and excluded: it would have raised near-duplicate contamination from 34.7% to 61.8%, adding little genuine variety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08623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</a:rPr>
              <a:t>The Solution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21495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A Computer Vision Marketplace for Irish Organic Producers with Automated Produce Quality Grading</a:t>
            </a:r>
          </a:p>
        </p:txBody>
      </p:sp>
      <p:pic>
        <p:nvPicPr>
          <p:cNvPr id="4" name="Image 0" descr="/mnt/user-data/uploads/fig_4_1_system_architectur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80160" y="1691640"/>
            <a:ext cx="9601200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</a:rPr>
              <a:t>4</a:t>
            </a: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58747F-C541-F1EE-EA66-D0F80DACFA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9053" y="41959"/>
            <a:ext cx="2342947" cy="12884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</a:rPr>
              <a:t>System Workflow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44444"/>
                </a:solidFill>
              </a:rPr>
              <a:t>End-to-end flow: upload, grading, product-match check, dual-inspection decision</a:t>
            </a:r>
            <a:endParaRPr lang="en-US" sz="1300" dirty="0"/>
          </a:p>
        </p:txBody>
      </p:sp>
      <p:pic>
        <p:nvPicPr>
          <p:cNvPr id="4" name="Image 0" descr="/home/claude/fig_system_workflo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63040" y="1554480"/>
            <a:ext cx="9235440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</a:rPr>
              <a:t>2</a:t>
            </a: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ABCA9E-925F-B256-D4B4-1AB6AD78BF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9053" y="41959"/>
            <a:ext cx="2342947" cy="128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28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</a:rPr>
              <a:t>Core Contribution: Dual-Inspection Variance Protocol</a:t>
            </a:r>
            <a:endParaRPr lang="en-US" sz="2600" dirty="0"/>
          </a:p>
        </p:txBody>
      </p:sp>
      <p:pic>
        <p:nvPicPr>
          <p:cNvPr id="3" name="Image 0" descr="/mnt/user-data/uploads/fig_4_3_dual_inspection_flo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0" y="1463040"/>
            <a:ext cx="8503920" cy="3840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E7D46"/>
                </a:solidFill>
              </a:rPr>
              <a:t>Produce is graded at dispatch and again at delivery. If quality drops beyond tolerance, the transaction is automatically flagged, payment is held, and negotiation opens — replacing subjective disagreement with objective evidence.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</a:rPr>
              <a:t>5</a:t>
            </a: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D4A67F-AD53-3D74-4AEE-978517CC3D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9053" y="41959"/>
            <a:ext cx="2342947" cy="12884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</a:rPr>
              <a:t>The Computer Vision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44444"/>
                </a:solidFill>
              </a:rPr>
              <a:t>Multi-head ResNet-18: one shared backbone, two Headed</a:t>
            </a:r>
            <a:endParaRPr lang="en-US" sz="1400" dirty="0"/>
          </a:p>
        </p:txBody>
      </p:sp>
      <p:pic>
        <p:nvPicPr>
          <p:cNvPr id="4" name="Image 0" descr="/mnt/user-data/uploads/fig_3_2_multi_head_mode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63040" y="1737360"/>
            <a:ext cx="9235440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</a:rPr>
              <a:t>6</a:t>
            </a: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312979-2C76-0652-72A0-AE55092568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9053" y="41959"/>
            <a:ext cx="2342947" cy="12884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</a:rPr>
              <a:t>Results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44444"/>
                </a:solidFill>
              </a:rPr>
              <a:t>Held-out test set, two curated datasets - evaluated honestly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F3A5F"/>
                </a:solidFill>
              </a:rPr>
              <a:t>96.8%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Product identification accuracy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06240" y="160020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F3A5F"/>
                </a:solidFill>
              </a:rPr>
              <a:t>98.3%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206240" y="26517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Quality assessment accuracy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80960" y="160020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F3A5F"/>
                </a:solidFill>
              </a:rPr>
              <a:t>34.7%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7680960" y="26517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Near-duplicates found &amp; controlled for via leakage-free split — confirming genuine generalisation</a:t>
            </a:r>
            <a:endParaRPr lang="en-US" sz="1200" dirty="0"/>
          </a:p>
        </p:txBody>
      </p:sp>
      <p:pic>
        <p:nvPicPr>
          <p:cNvPr id="10" name="Image 0" descr="/mnt/user-data/uploads/fig_per_product_f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3429000"/>
            <a:ext cx="5760720" cy="2834640"/>
          </a:xfrm>
          <a:prstGeom prst="rect">
            <a:avLst/>
          </a:prstGeom>
        </p:spPr>
      </p:pic>
      <p:pic>
        <p:nvPicPr>
          <p:cNvPr id="11" name="Image 1" descr="/mnt/user-data/uploads/fig_confusion_matrix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92240" y="3429000"/>
            <a:ext cx="5303520" cy="2834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</a:rPr>
              <a:t>8</a:t>
            </a:r>
            <a:endParaRPr lang="en-US" sz="1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4B21EB4-E215-A9D0-6351-932222251F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9053" y="41959"/>
            <a:ext cx="2342947" cy="12884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</a:rPr>
              <a:t>Technology Stack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46"/>
                </a:solidFill>
              </a:rPr>
              <a:t>BACKEND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91840" y="173736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Python, FastAPI, JWT authentication, SQLAlchemy ORM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6517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46"/>
                </a:solidFill>
              </a:rPr>
              <a:t>FRONTEND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91840" y="265176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React (single-page application)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5661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46"/>
                </a:solidFill>
              </a:rPr>
              <a:t>DATABASE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356616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PostgreSQL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4805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46"/>
                </a:solidFill>
              </a:rPr>
              <a:t>COMPUTER VISION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448056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PyTorch (ResNet-18 multi-head classifier), YOLOv8 (object detection), OpenCV (classical scoring)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53949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46"/>
                </a:solidFill>
              </a:rPr>
              <a:t>OTHER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539496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ReportLab (PDF invoices), perceptual hashing (dataset deduplication), Docker (containerisation)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</a:rPr>
              <a:t>7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AB6952A-E341-7936-2DFE-6D4F77160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9053" y="41959"/>
            <a:ext cx="2342947" cy="128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384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16644"/>
            <a:ext cx="6957753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</a:rPr>
              <a:t>On Quality: Limitations &amp; Evaluation Integrity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Dense, overlapping produce is harder to detect cleanly - future work: instance segmentation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Some products (carrot, Mango) grade less reliably - a data-availability limitation, not a design flaw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Visually similar produce (apple / tomato) is occasionally confused 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Only two datasets used for training; a third was assessed and excluded after raising near-duplicate contamination from 34.7% to 61.8%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Quality is graded by computer vision; organic provenance is verified separately by certificate and admin approval - a deliberate design boundary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Reliability depends on reasonable photographic conditions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</a:rPr>
              <a:t>9</a:t>
            </a:r>
            <a:endParaRPr lang="en-US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5A1E63-0202-1081-A51E-DFDC88011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9053" y="41959"/>
            <a:ext cx="2342947" cy="128844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24449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</a:rPr>
              <a:t>Conclusion &amp; Future Work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A working, honestly evaluated trust layer for direct organic trade in Ireland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Novel dual-inspection protocol for objective, evidence-based dispute resolution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Future: instance segmentation for dense piles, more training data for weaker products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Future: real payment integration, cloud deployment, certificate-based path for meat and dairy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5394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46"/>
                </a:solidFill>
              </a:rPr>
              <a:t>Thank you  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2E7D46"/>
                </a:solidFill>
              </a:rPr>
              <a:t>Questions?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</a:rPr>
              <a:t>10</a:t>
            </a: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216724-6640-B1C3-AD39-7C341BC42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9722" y="23297"/>
            <a:ext cx="2342947" cy="12884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MEng_Spring_Presentation_Template</Template>
  <TotalTime>127</TotalTime>
  <Words>777</Words>
  <Application>Microsoft Office PowerPoint</Application>
  <PresentationFormat>Widescreen</PresentationFormat>
  <Paragraphs>86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Georgia</vt:lpstr>
      <vt:lpstr>Office Theme</vt:lpstr>
      <vt:lpstr>OrganicLink   A Computer Vision Marketplace for Irish Organic Producers with Automated Produce Quality Grading  Aashrith Sai Yamsani Student ID : 25287419 Supervisor: Dr. Elfed Lewis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ULStudent:AASHRITH SAI.YAMSANI</cp:lastModifiedBy>
  <cp:revision>6</cp:revision>
  <dcterms:created xsi:type="dcterms:W3CDTF">2026-08-18T19:39:39Z</dcterms:created>
  <dcterms:modified xsi:type="dcterms:W3CDTF">2026-08-18T21:59:32Z</dcterms:modified>
</cp:coreProperties>
</file>