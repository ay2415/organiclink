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6" r:id="rId2"/>
    <p:sldId id="257" r:id="rId3"/>
    <p:sldId id="270" r:id="rId4"/>
    <p:sldId id="258" r:id="rId5"/>
    <p:sldId id="271" r:id="rId6"/>
    <p:sldId id="267" r:id="rId7"/>
    <p:sldId id="259" r:id="rId8"/>
    <p:sldId id="260" r:id="rId9"/>
    <p:sldId id="261" r:id="rId10"/>
    <p:sldId id="269" r:id="rId11"/>
    <p:sldId id="272" r:id="rId12"/>
    <p:sldId id="263" r:id="rId13"/>
    <p:sldId id="268" r:id="rId14"/>
    <p:sldId id="273" r:id="rId15"/>
    <p:sldId id="264" r:id="rId16"/>
    <p:sldId id="26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10"/>
  </p:normalViewPr>
  <p:slideViewPr>
    <p:cSldViewPr snapToGrid="0" snapToObjects="1">
      <p:cViewPr>
        <p:scale>
          <a:sx n="53" d="100"/>
          <a:sy n="53" d="100"/>
        </p:scale>
        <p:origin x="-11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088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7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6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8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82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32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54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72F0-795F-DC49-8A85-915BF0F2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936" y="5249620"/>
            <a:ext cx="7559262" cy="537713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038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E1192D-1B69-A648-85CB-F16FFBDED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936" y="5787333"/>
            <a:ext cx="7559262" cy="5377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363">
                <a:solidFill>
                  <a:srgbClr val="00A956"/>
                </a:solidFill>
                <a:latin typeface="Georgia" panose="02040502050405020303" pitchFamily="18" charset="0"/>
              </a:defRPr>
            </a:lvl1pPr>
            <a:lvl2pPr marL="411589" indent="0" algn="ctr">
              <a:buNone/>
              <a:defRPr sz="1800"/>
            </a:lvl2pPr>
            <a:lvl3pPr marL="823178" indent="0" algn="ctr">
              <a:buNone/>
              <a:defRPr sz="1620"/>
            </a:lvl3pPr>
            <a:lvl4pPr marL="1234767" indent="0" algn="ctr">
              <a:buNone/>
              <a:defRPr sz="1441"/>
            </a:lvl4pPr>
            <a:lvl5pPr marL="1646356" indent="0" algn="ctr">
              <a:buNone/>
              <a:defRPr sz="1441"/>
            </a:lvl5pPr>
            <a:lvl6pPr marL="2057945" indent="0" algn="ctr">
              <a:buNone/>
              <a:defRPr sz="1441"/>
            </a:lvl6pPr>
            <a:lvl7pPr marL="2469534" indent="0" algn="ctr">
              <a:buNone/>
              <a:defRPr sz="1441"/>
            </a:lvl7pPr>
            <a:lvl8pPr marL="2881122" indent="0" algn="ctr">
              <a:buNone/>
              <a:defRPr sz="1441"/>
            </a:lvl8pPr>
            <a:lvl9pPr marL="3292712" indent="0" algn="ctr">
              <a:buNone/>
              <a:defRPr sz="144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63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7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7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1.png" /><Relationship Id="rId5" Type="http://schemas.openxmlformats.org/officeDocument/2006/relationships/image" Target="../media/image10.png" /><Relationship Id="rId4" Type="http://schemas.openxmlformats.org/officeDocument/2006/relationships/image" Target="../media/image9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5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.png" /><Relationship Id="rId4" Type="http://schemas.openxmlformats.org/officeDocument/2006/relationships/image" Target="../media/image19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 /><Relationship Id="rId3" Type="http://schemas.openxmlformats.org/officeDocument/2006/relationships/image" Target="../media/image20.png" /><Relationship Id="rId7" Type="http://schemas.openxmlformats.org/officeDocument/2006/relationships/image" Target="../media/image24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3.png" /><Relationship Id="rId5" Type="http://schemas.openxmlformats.org/officeDocument/2006/relationships/image" Target="../media/image22.png" /><Relationship Id="rId4" Type="http://schemas.openxmlformats.org/officeDocument/2006/relationships/image" Target="../media/image21.png" /><Relationship Id="rId9" Type="http://schemas.openxmlformats.org/officeDocument/2006/relationships/image" Target="../media/image2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CB0A-7993-BA4C-8272-98FAE8DB7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2796" y="2561208"/>
            <a:ext cx="9337850" cy="204896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118" dirty="0"/>
              <a:t>OrganicLink</a:t>
            </a:r>
            <a:r>
              <a:rPr lang="en-US" sz="2700" dirty="0"/>
              <a:t>  </a:t>
            </a:r>
            <a:br>
              <a:rPr lang="en-US" sz="2700" dirty="0"/>
            </a:br>
            <a:r>
              <a:rPr lang="en-US" sz="2700" dirty="0"/>
              <a:t>A Computer Vision Marketplace for Irish Organic Producers with Automated Produce Quality Grading</a:t>
            </a:r>
            <a:br>
              <a:rPr lang="en-US" sz="2430" dirty="0"/>
            </a:br>
            <a:br>
              <a:rPr lang="en-US" sz="2430" dirty="0"/>
            </a:br>
            <a:r>
              <a:rPr lang="en-US" sz="2700" dirty="0"/>
              <a:t>Aashrith Sai Yamsani</a:t>
            </a:r>
            <a:br>
              <a:rPr lang="en-US" sz="2700" dirty="0"/>
            </a:br>
            <a:r>
              <a:rPr lang="en-US" sz="2700" dirty="0"/>
              <a:t>Student ID : 25287419</a:t>
            </a:r>
            <a:br>
              <a:rPr lang="en-US" sz="2700" dirty="0"/>
            </a:br>
            <a:r>
              <a:rPr lang="en-US" sz="2700" dirty="0"/>
              <a:t>Supervisor: Dr. </a:t>
            </a:r>
            <a:r>
              <a:rPr lang="en-US" sz="2700" dirty="0" err="1"/>
              <a:t>Elfed</a:t>
            </a:r>
            <a:r>
              <a:rPr lang="en-US" sz="2700" dirty="0"/>
              <a:t> Lewis</a:t>
            </a:r>
            <a:br>
              <a:rPr lang="en-US" sz="2700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394F361-F4D6-E44D-BA05-8CE0226C3547}"/>
              </a:ext>
            </a:extLst>
          </p:cNvPr>
          <p:cNvSpPr>
            <a:spLocks noGrp="1"/>
          </p:cNvSpPr>
          <p:nvPr/>
        </p:nvSpPr>
        <p:spPr>
          <a:xfrm>
            <a:off x="1286827" y="5597046"/>
            <a:ext cx="7149081" cy="776970"/>
          </a:xfrm>
          <a:prstGeom prst="rect">
            <a:avLst/>
          </a:prstGeom>
        </p:spPr>
        <p:txBody>
          <a:bodyPr vert="horz" lIns="61732" tIns="30866" rIns="61732" bIns="30866" rtlCol="0" anchor="t">
            <a:noAutofit/>
          </a:bodyPr>
          <a:lstStyle>
            <a:lvl1pPr marL="0" indent="0" algn="l" defTabSz="1219342" rtl="0" eaLnBrk="1" latinLnBrk="0" hangingPunct="1">
              <a:lnSpc>
                <a:spcPct val="90000"/>
              </a:lnSpc>
              <a:spcBef>
                <a:spcPts val="1334"/>
              </a:spcBef>
              <a:buFont typeface="Arial" panose="020B0604020202020204" pitchFamily="34" charset="0"/>
              <a:buNone/>
              <a:defRPr sz="3500" kern="1200">
                <a:solidFill>
                  <a:srgbClr val="00A956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09671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667" kern="1200">
                <a:solidFill>
                  <a:srgbClr val="005336"/>
                </a:solidFill>
                <a:latin typeface="Helvetica" pitchFamily="2" charset="0"/>
                <a:ea typeface="+mn-ea"/>
                <a:cs typeface="+mn-cs"/>
              </a:defRPr>
            </a:lvl2pPr>
            <a:lvl3pPr marL="1219342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400" kern="1200">
                <a:solidFill>
                  <a:srgbClr val="005336"/>
                </a:solidFill>
                <a:latin typeface="Helvetica" pitchFamily="2" charset="0"/>
                <a:ea typeface="+mn-ea"/>
                <a:cs typeface="+mn-cs"/>
              </a:defRPr>
            </a:lvl3pPr>
            <a:lvl4pPr marL="1829014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4" kern="1200">
                <a:solidFill>
                  <a:srgbClr val="005336"/>
                </a:solidFill>
                <a:latin typeface="Helvetica" pitchFamily="2" charset="0"/>
                <a:ea typeface="+mn-ea"/>
                <a:cs typeface="+mn-cs"/>
              </a:defRPr>
            </a:lvl4pPr>
            <a:lvl5pPr marL="2438685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4" kern="1200">
                <a:solidFill>
                  <a:srgbClr val="005336"/>
                </a:solidFill>
                <a:latin typeface="Helvetica" pitchFamily="2" charset="0"/>
                <a:ea typeface="+mn-ea"/>
                <a:cs typeface="+mn-cs"/>
              </a:defRPr>
            </a:lvl5pPr>
            <a:lvl6pPr marL="3048356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027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697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7370" indent="0" algn="ctr" defTabSz="1219342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90" dirty="0"/>
              <a:t>Master of Engineering in Computer Vision &amp; Artificial Intelligence</a:t>
            </a:r>
          </a:p>
          <a:p>
            <a:r>
              <a:rPr sz="1890" dirty="0"/>
              <a:t>Final </a:t>
            </a:r>
            <a:r>
              <a:rPr lang="en-IN" sz="1890" dirty="0"/>
              <a:t>P</a:t>
            </a:r>
            <a:r>
              <a:rPr sz="1890" dirty="0" err="1"/>
              <a:t>roject</a:t>
            </a:r>
            <a:r>
              <a:rPr sz="1890" dirty="0"/>
              <a:t> </a:t>
            </a:r>
            <a:r>
              <a:rPr lang="en-IN" sz="1890" dirty="0"/>
              <a:t>P</a:t>
            </a:r>
            <a:r>
              <a:rPr sz="1890" dirty="0" err="1"/>
              <a:t>resentation</a:t>
            </a:r>
            <a:r>
              <a:rPr sz="1890" dirty="0"/>
              <a:t>  |  University of Limerick</a:t>
            </a:r>
          </a:p>
        </p:txBody>
      </p:sp>
    </p:spTree>
    <p:extLst>
      <p:ext uri="{BB962C8B-B14F-4D97-AF65-F5344CB8AC3E}">
        <p14:creationId xmlns:p14="http://schemas.microsoft.com/office/powerpoint/2010/main" val="158187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91426"/>
            <a:ext cx="4413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93517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46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22811" y="2320824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400" b="1" dirty="0"/>
              <a:t>Organic producers face difficulty trading directly with buyers because produce quality cannot be reliably verified remotely.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b="1" dirty="0"/>
              <a:t>Quality uncertainty</a:t>
            </a:r>
            <a:r>
              <a:rPr lang="en-US" sz="1400" dirty="0"/>
              <a:t> - Buyers cannot physically inspect produce before purchase 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Rejection &amp; waste</a:t>
            </a:r>
            <a:r>
              <a:rPr lang="en-US" sz="1400" dirty="0"/>
              <a:t> - Produce failing quality/cosmetic requirements may be rejected 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Surplus &amp; loss of value</a:t>
            </a:r>
            <a:r>
              <a:rPr lang="en-US" sz="1400" dirty="0"/>
              <a:t> - Unsold/rejected produce may enter lower-value channels 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Loss of organic premium</a:t>
            </a:r>
            <a:r>
              <a:rPr lang="en-US" sz="1400" dirty="0"/>
              <a:t>  - Organic produce may be sold through conventional channel</a:t>
            </a:r>
          </a:p>
          <a:p>
            <a:pPr>
              <a:lnSpc>
                <a:spcPts val="1700"/>
              </a:lnSpc>
            </a:pPr>
            <a:endParaRPr lang="en-US" sz="1400" dirty="0"/>
          </a:p>
          <a:p>
            <a:pPr>
              <a:lnSpc>
                <a:spcPts val="1700"/>
              </a:lnSpc>
            </a:pPr>
            <a:endParaRPr lang="en-US" sz="13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  <p:sp>
        <p:nvSpPr>
          <p:cNvPr id="12" name="AimsCard">
            <a:extLst>
              <a:ext uri="{FF2B5EF4-FFF2-40B4-BE49-F238E27FC236}">
                <a16:creationId xmlns:a16="http://schemas.microsoft.com/office/drawing/2014/main" id="{CCB129FF-47A9-9943-8E0E-F44DCD128CDE}"/>
              </a:ext>
            </a:extLst>
          </p:cNvPr>
          <p:cNvSpPr/>
          <p:nvPr/>
        </p:nvSpPr>
        <p:spPr>
          <a:xfrm>
            <a:off x="762000" y="1246403"/>
            <a:ext cx="10064971" cy="5314817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E4512655-5698-23F9-9741-71CC9782FAD5}"/>
              </a:ext>
            </a:extLst>
          </p:cNvPr>
          <p:cNvSpPr/>
          <p:nvPr/>
        </p:nvSpPr>
        <p:spPr>
          <a:xfrm>
            <a:off x="916004" y="1334245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46"/>
                </a:solidFill>
              </a:rPr>
              <a:t>Problem Statement</a:t>
            </a:r>
            <a:endParaRPr lang="en-US" sz="15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29DFCA3F-DA02-0380-3063-E256DDA7C06D}"/>
              </a:ext>
            </a:extLst>
          </p:cNvPr>
          <p:cNvSpPr/>
          <p:nvPr/>
        </p:nvSpPr>
        <p:spPr>
          <a:xfrm>
            <a:off x="907295" y="2248636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400" b="1" dirty="0"/>
              <a:t>Organic producers face difficulty trading directly with buyers because it is difficult to verify the quality of their produce remotely.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This Creates 4 main issues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Quality uncertainty</a:t>
            </a:r>
            <a:r>
              <a:rPr lang="en-US" sz="1400" dirty="0"/>
              <a:t> - Buyers cannot physically inspect produce before purchase 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Rejection &amp; waste</a:t>
            </a:r>
            <a:r>
              <a:rPr lang="en-US" sz="1400" dirty="0"/>
              <a:t> - Produce failing quality/cosmetic requirements may be rejected 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Surplus &amp; loss of value</a:t>
            </a:r>
            <a:r>
              <a:rPr lang="en-US" sz="1400" dirty="0"/>
              <a:t> - Unsold/rejected produce may enter lower-value channels 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Loss of organic premium</a:t>
            </a:r>
            <a:r>
              <a:rPr lang="en-US" sz="1400" dirty="0"/>
              <a:t>  - Organic produce may be sold through conventional channel</a:t>
            </a:r>
          </a:p>
          <a:p>
            <a:pPr>
              <a:lnSpc>
                <a:spcPts val="1700"/>
              </a:lnSpc>
            </a:pPr>
            <a:endParaRPr lang="en-US" sz="1400" dirty="0"/>
          </a:p>
          <a:p>
            <a:pPr>
              <a:lnSpc>
                <a:spcPts val="1700"/>
              </a:lnSpc>
            </a:pPr>
            <a:endParaRPr lang="en-US" sz="13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10F4D4EA-FEF9-0622-C26B-806D40430F61}"/>
              </a:ext>
            </a:extLst>
          </p:cNvPr>
          <p:cNvSpPr/>
          <p:nvPr/>
        </p:nvSpPr>
        <p:spPr>
          <a:xfrm>
            <a:off x="843814" y="3482529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46"/>
                </a:solidFill>
              </a:rPr>
              <a:t>Project Aims</a:t>
            </a:r>
            <a:endParaRPr lang="en-US" sz="1500" dirty="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E256843F-B22B-39F3-0C22-4F79EFC5892E}"/>
              </a:ext>
            </a:extLst>
          </p:cNvPr>
          <p:cNvSpPr/>
          <p:nvPr/>
        </p:nvSpPr>
        <p:spPr>
          <a:xfrm>
            <a:off x="843814" y="3830861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400" b="1" dirty="0"/>
              <a:t>Build a web-based marketplace connecting organic producers directly with buyers, using computer vision to verify produce quality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 and provide objective evidence for remote transactions.</a:t>
            </a:r>
            <a:endParaRPr lang="en-US" sz="14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168A408B-622D-9407-957D-F2A35E007B99}"/>
              </a:ext>
            </a:extLst>
          </p:cNvPr>
          <p:cNvSpPr/>
          <p:nvPr/>
        </p:nvSpPr>
        <p:spPr>
          <a:xfrm>
            <a:off x="843814" y="455366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46"/>
                </a:solidFill>
              </a:rPr>
              <a:t>Key Objectives</a:t>
            </a:r>
            <a:endParaRPr lang="en-US" sz="15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5064D0C3-9E33-7626-3F96-FEEAEF4BDD33}"/>
              </a:ext>
            </a:extLst>
          </p:cNvPr>
          <p:cNvSpPr/>
          <p:nvPr/>
        </p:nvSpPr>
        <p:spPr>
          <a:xfrm>
            <a:off x="843814" y="4527543"/>
            <a:ext cx="10698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/>
              <a:t>Investigate the organic market-access and quality-verification problem 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/>
              <a:t>Develop automated produce identification and quality grading 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/>
              <a:t>Implement dual inspection at dispatch and delivery 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/>
              <a:t>Evaluate the system, including model performance and data integrity </a:t>
            </a:r>
          </a:p>
          <a:p>
            <a:pPr>
              <a:lnSpc>
                <a:spcPct val="150000"/>
              </a:lnSpc>
              <a:spcAft>
                <a:spcPts val="1000"/>
              </a:spcAft>
              <a:buSzPct val="100000"/>
            </a:pPr>
            <a:endParaRPr lang="en-US" sz="12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EEA63FEA-CFBD-CBF4-9FED-EFB132BA4DC6}"/>
              </a:ext>
            </a:extLst>
          </p:cNvPr>
          <p:cNvSpPr/>
          <p:nvPr/>
        </p:nvSpPr>
        <p:spPr>
          <a:xfrm>
            <a:off x="11633734" y="655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Industry Evidence &amp; Problem Validation</a:t>
            </a:r>
            <a:endParaRPr lang="en-US" sz="2600" dirty="0"/>
          </a:p>
        </p:txBody>
      </p:sp>
      <p:pic>
        <p:nvPicPr>
          <p:cNvPr id="3" name="Image 0" descr="/mnt/user-data/uploads/1787123771188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5440680" cy="19659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Text 1"/>
          <p:cNvSpPr/>
          <p:nvPr/>
        </p:nvSpPr>
        <p:spPr>
          <a:xfrm>
            <a:off x="548640" y="3536988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46"/>
                </a:solidFill>
              </a:rPr>
              <a:t>Irish Examiner (2026)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3705930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~30% of fruit &amp; vegetables rejected on cosmetic grounds</a:t>
            </a:r>
            <a:endParaRPr lang="en-US" sz="1050" dirty="0"/>
          </a:p>
        </p:txBody>
      </p:sp>
      <p:pic>
        <p:nvPicPr>
          <p:cNvPr id="6" name="Image 1" descr="/mnt/user-data/uploads/1787124005980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63640" y="1508760"/>
            <a:ext cx="5440680" cy="19659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Text 3"/>
          <p:cNvSpPr/>
          <p:nvPr/>
        </p:nvSpPr>
        <p:spPr>
          <a:xfrm>
            <a:off x="6257109" y="3536988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46"/>
                </a:solidFill>
              </a:rPr>
              <a:t>DAFM / gov.ie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090419" y="3674148"/>
            <a:ext cx="552246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189,485t food lost pre-farm-gate; 122,395t of that is vegetables, mainly failing retail specifications</a:t>
            </a:r>
            <a:endParaRPr lang="en-US" sz="1050" dirty="0"/>
          </a:p>
        </p:txBody>
      </p:sp>
      <p:pic>
        <p:nvPicPr>
          <p:cNvPr id="9" name="Image 2" descr="/mnt/user-data/uploads/1787124128074_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" y="4114800"/>
            <a:ext cx="5440680" cy="19659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0" name="Text 5"/>
          <p:cNvSpPr/>
          <p:nvPr/>
        </p:nvSpPr>
        <p:spPr>
          <a:xfrm>
            <a:off x="548640" y="6108192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46"/>
                </a:solidFill>
              </a:rPr>
              <a:t>Agriland — Leakage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48640" y="6364224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70% of organic lambs / 30% of organic cattle processed as conventional (2022) due to lack of processing hubs</a:t>
            </a:r>
            <a:endParaRPr lang="en-US" sz="1050" dirty="0"/>
          </a:p>
        </p:txBody>
      </p:sp>
      <p:pic>
        <p:nvPicPr>
          <p:cNvPr id="12" name="Image 3" descr="/mnt/user-data/uploads/1787124554235_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63640" y="4114800"/>
            <a:ext cx="5440680" cy="19659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3" name="Text 7"/>
          <p:cNvSpPr/>
          <p:nvPr/>
        </p:nvSpPr>
        <p:spPr>
          <a:xfrm>
            <a:off x="6263640" y="6108192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46"/>
                </a:solidFill>
              </a:rPr>
              <a:t>Agriland — Organic Dairy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263640" y="6364224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</a:rPr>
              <a:t>Organic dairy is &lt;1% of national milk volume, ~70 suppliers - too small and fragmented for reliable processing capacity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2</a:t>
            </a:r>
            <a:endParaRPr lang="en-US" sz="10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46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02360"/>
            <a:ext cx="829447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Project Origin: From the Digital Futures Lab to OrganicLink</a:t>
            </a:r>
            <a:endParaRPr lang="en-US" sz="2600" dirty="0"/>
          </a:p>
        </p:txBody>
      </p:sp>
      <p:sp>
        <p:nvSpPr>
          <p:cNvPr id="1001" name="DFLCard"/>
          <p:cNvSpPr/>
          <p:nvPr/>
        </p:nvSpPr>
        <p:spPr>
          <a:xfrm>
            <a:off x="731520" y="1650000"/>
            <a:ext cx="5212080" cy="400000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DFLHeader"/>
          <p:cNvSpPr/>
          <p:nvPr/>
        </p:nvSpPr>
        <p:spPr>
          <a:xfrm>
            <a:off x="1051520" y="1970000"/>
            <a:ext cx="4572080" cy="40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3A5F"/>
                </a:solidFill>
              </a:rPr>
              <a:t>Digital Futures Lab - Team 6</a:t>
            </a:r>
          </a:p>
        </p:txBody>
      </p:sp>
      <p:sp>
        <p:nvSpPr>
          <p:cNvPr id="1003" name="DFLSub"/>
          <p:cNvSpPr/>
          <p:nvPr/>
        </p:nvSpPr>
        <p:spPr>
          <a:xfrm>
            <a:off x="1051520" y="2410000"/>
            <a:ext cx="4572080" cy="34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7D46"/>
                </a:solidFill>
              </a:rPr>
              <a:t>Midwest Bio District | Organic Dairy</a:t>
            </a:r>
          </a:p>
        </p:txBody>
      </p:sp>
      <p:sp>
        <p:nvSpPr>
          <p:cNvPr id="1004" name="DFLBody"/>
          <p:cNvSpPr/>
          <p:nvPr/>
        </p:nvSpPr>
        <p:spPr>
          <a:xfrm>
            <a:off x="1051520" y="2810000"/>
            <a:ext cx="4572080" cy="25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Initial challenge: </a:t>
            </a:r>
            <a:r>
              <a:rPr lang="en-US" sz="1200" b="1" dirty="0"/>
              <a:t>surplus organic milk &amp; limited processing capacity</a:t>
            </a:r>
            <a:r>
              <a:rPr lang="en-US" sz="12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Team of students from </a:t>
            </a:r>
            <a:r>
              <a:rPr lang="en-US" sz="1200" b="1" dirty="0"/>
              <a:t>business, analytics, risk and finance backgrounds</a:t>
            </a:r>
            <a:r>
              <a:rPr lang="en-US" sz="12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Developed </a:t>
            </a:r>
            <a:r>
              <a:rPr lang="en-US" sz="1200" b="1" dirty="0"/>
              <a:t>IOMS / Cooperative Digital Milk Coordination Platform</a:t>
            </a:r>
            <a:r>
              <a:rPr lang="en-US" sz="12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Goal: </a:t>
            </a:r>
            <a:r>
              <a:rPr lang="en-US" sz="1200" b="1" dirty="0"/>
              <a:t>coordinate surplus milk with available processing capacity</a:t>
            </a:r>
            <a:r>
              <a:rPr lang="en-US" sz="1200" dirty="0"/>
              <a:t> </a:t>
            </a:r>
          </a:p>
          <a:p>
            <a:pPr marL="228600" indent="-228600">
              <a:lnSpc>
                <a:spcPct val="118000"/>
              </a:lnSpc>
              <a:spcAft>
                <a:spcPts val="1100"/>
              </a:spcAft>
              <a:buClr>
                <a:srgbClr val="1F3A5F"/>
              </a:buClr>
              <a:buFont typeface="Arial"/>
              <a:buChar char="●"/>
            </a:pPr>
            <a:endParaRPr lang="en-US" sz="1200" dirty="0">
              <a:solidFill>
                <a:srgbClr val="2B2B2B"/>
              </a:solidFill>
            </a:endParaRPr>
          </a:p>
        </p:txBody>
      </p:sp>
      <p:sp>
        <p:nvSpPr>
          <p:cNvPr id="1005" name="StakeCard"/>
          <p:cNvSpPr/>
          <p:nvPr/>
        </p:nvSpPr>
        <p:spPr>
          <a:xfrm>
            <a:off x="6217920" y="1650000"/>
            <a:ext cx="5212080" cy="4000000"/>
          </a:xfrm>
          <a:prstGeom prst="roundRect">
            <a:avLst>
              <a:gd name="adj" fmla="val 4000"/>
            </a:avLst>
          </a:prstGeom>
          <a:solidFill>
            <a:srgbClr val="EAF3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6" name="StakeHeader"/>
          <p:cNvSpPr/>
          <p:nvPr/>
        </p:nvSpPr>
        <p:spPr>
          <a:xfrm>
            <a:off x="6537920" y="1970000"/>
            <a:ext cx="4572080" cy="40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7D46"/>
                </a:solidFill>
              </a:rPr>
              <a:t>Stakeholder Validation</a:t>
            </a:r>
          </a:p>
        </p:txBody>
      </p:sp>
      <p:sp>
        <p:nvSpPr>
          <p:cNvPr id="1007" name="StakeSub"/>
          <p:cNvSpPr/>
          <p:nvPr/>
        </p:nvSpPr>
        <p:spPr>
          <a:xfrm>
            <a:off x="6537920" y="2410000"/>
            <a:ext cx="4572080" cy="34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3A5F"/>
                </a:solidFill>
              </a:rPr>
              <a:t>Joe Kelleher — Organic Specialist, Teagasc</a:t>
            </a:r>
          </a:p>
        </p:txBody>
      </p:sp>
      <p:sp>
        <p:nvSpPr>
          <p:cNvPr id="1008" name="StakeBody"/>
          <p:cNvSpPr/>
          <p:nvPr/>
        </p:nvSpPr>
        <p:spPr>
          <a:xfrm>
            <a:off x="6537920" y="2840000"/>
            <a:ext cx="4572080" cy="249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Small and fragmented organic dairy sector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Limited number of processing hubs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Existing farmer - processor relationships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Processing capacity was the key bottleneck</a:t>
            </a:r>
            <a:r>
              <a:rPr lang="en-US" sz="1200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Logistics and collection also create challenges</a:t>
            </a:r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3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EB78C5-D5E3-138A-F024-54D5280F3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53" y="24542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EB78C5-D5E3-138A-F024-54D5280F3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9053" y="24542"/>
            <a:ext cx="2342947" cy="12884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584643"/>
            <a:ext cx="8294471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Dataset &amp; Data Integrity</a:t>
            </a:r>
            <a:endParaRPr lang="en-US" sz="2600" dirty="0"/>
          </a:p>
        </p:txBody>
      </p:sp>
      <p:sp>
        <p:nvSpPr>
          <p:cNvPr id="1001" name="DataCard0"/>
          <p:cNvSpPr/>
          <p:nvPr/>
        </p:nvSpPr>
        <p:spPr>
          <a:xfrm>
            <a:off x="731520" y="1500000"/>
            <a:ext cx="3413760" cy="4780000"/>
          </a:xfrm>
          <a:prstGeom prst="roundRect">
            <a:avLst>
              <a:gd name="adj" fmla="val 4500"/>
            </a:avLst>
          </a:prstGeom>
          <a:solidFill>
            <a:srgbClr val="EEF2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Badge0"/>
          <p:cNvSpPr/>
          <p:nvPr/>
        </p:nvSpPr>
        <p:spPr>
          <a:xfrm>
            <a:off x="991520" y="1760000"/>
            <a:ext cx="620000" cy="620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03" name="CardTitle0"/>
          <p:cNvSpPr/>
          <p:nvPr/>
        </p:nvSpPr>
        <p:spPr>
          <a:xfrm>
            <a:off x="1791520" y="1760000"/>
            <a:ext cx="2093760" cy="620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3A5F"/>
                </a:solidFill>
              </a:rPr>
              <a:t>Dataset</a:t>
            </a:r>
          </a:p>
        </p:txBody>
      </p:sp>
      <p:sp>
        <p:nvSpPr>
          <p:cNvPr id="1004" name="CardBody0"/>
          <p:cNvSpPr/>
          <p:nvPr/>
        </p:nvSpPr>
        <p:spPr>
          <a:xfrm>
            <a:off x="991520" y="2620000"/>
            <a:ext cx="2893760" cy="340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Clr>
                <a:srgbClr val="1F3A5F"/>
              </a:buClr>
              <a:buFont typeface="Arial"/>
              <a:buChar char="●"/>
            </a:pPr>
            <a:r>
              <a:rPr lang="en-US" sz="1250" dirty="0">
                <a:solidFill>
                  <a:srgbClr val="2B2B2B"/>
                </a:solidFill>
              </a:rPr>
              <a:t>2 public Kaggle datasets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Clr>
                <a:srgbClr val="1F3A5F"/>
              </a:buClr>
              <a:buFont typeface="Arial"/>
              <a:buChar char="●"/>
            </a:pPr>
            <a:r>
              <a:rPr lang="en-US" sz="1250" dirty="0">
                <a:solidFill>
                  <a:srgbClr val="2B2B2B"/>
                </a:solidFill>
              </a:rPr>
              <a:t>14 produce classes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Clr>
                <a:srgbClr val="1F3A5F"/>
              </a:buClr>
              <a:buFont typeface="Arial"/>
              <a:buChar char="●"/>
            </a:pPr>
            <a:r>
              <a:rPr lang="en-US" sz="1250" dirty="0">
                <a:solidFill>
                  <a:srgbClr val="2B2B2B"/>
                </a:solidFill>
              </a:rPr>
              <a:t>Fresh / Defective labels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Clr>
                <a:srgbClr val="1F3A5F"/>
              </a:buClr>
              <a:buFont typeface="Arial"/>
              <a:buChar char="●"/>
            </a:pPr>
            <a:r>
              <a:rPr lang="en-US" sz="1250" b="1" dirty="0">
                <a:solidFill>
                  <a:srgbClr val="2E7D46"/>
                </a:solidFill>
              </a:rPr>
              <a:t>46,867 images</a:t>
            </a:r>
          </a:p>
        </p:txBody>
      </p:sp>
      <p:sp>
        <p:nvSpPr>
          <p:cNvPr id="1005" name="DataCard1"/>
          <p:cNvSpPr/>
          <p:nvPr/>
        </p:nvSpPr>
        <p:spPr>
          <a:xfrm>
            <a:off x="4373880" y="1500000"/>
            <a:ext cx="3413760" cy="4780000"/>
          </a:xfrm>
          <a:prstGeom prst="roundRect">
            <a:avLst>
              <a:gd name="adj" fmla="val 4500"/>
            </a:avLst>
          </a:prstGeom>
          <a:solidFill>
            <a:srgbClr val="EEF2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6" name="Badge1"/>
          <p:cNvSpPr/>
          <p:nvPr/>
        </p:nvSpPr>
        <p:spPr>
          <a:xfrm>
            <a:off x="4633880" y="1760000"/>
            <a:ext cx="620000" cy="620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07" name="CardTitle1"/>
          <p:cNvSpPr/>
          <p:nvPr/>
        </p:nvSpPr>
        <p:spPr>
          <a:xfrm>
            <a:off x="5433880" y="1760000"/>
            <a:ext cx="2093760" cy="620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3A5F"/>
                </a:solidFill>
              </a:rPr>
              <a:t>Data Integrity</a:t>
            </a:r>
          </a:p>
        </p:txBody>
      </p:sp>
      <p:sp>
        <p:nvSpPr>
          <p:cNvPr id="1008" name="CardBody1"/>
          <p:cNvSpPr/>
          <p:nvPr/>
        </p:nvSpPr>
        <p:spPr>
          <a:xfrm>
            <a:off x="4633880" y="2620000"/>
            <a:ext cx="2893760" cy="340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Clr>
                <a:srgbClr val="1F3A5F"/>
              </a:buClr>
              <a:buFont typeface="Arial"/>
              <a:buChar char="●"/>
            </a:pPr>
            <a:r>
              <a:rPr lang="en-US" sz="1250" b="1" dirty="0">
                <a:solidFill>
                  <a:srgbClr val="2E7D46"/>
                </a:solidFill>
              </a:rPr>
              <a:t>34.7% near-duplicates identified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Clr>
                <a:srgbClr val="1F3A5F"/>
              </a:buClr>
              <a:buFont typeface="Arial"/>
              <a:buChar char="●"/>
            </a:pPr>
            <a:r>
              <a:rPr lang="en-US" sz="1250" dirty="0">
                <a:solidFill>
                  <a:srgbClr val="2B2B2B"/>
                </a:solidFill>
              </a:rPr>
              <a:t>Perceptual hashing used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Clr>
                <a:srgbClr val="1F3A5F"/>
              </a:buClr>
              <a:buFont typeface="Arial"/>
              <a:buChar char="●"/>
            </a:pPr>
            <a:r>
              <a:rPr lang="en-US" sz="1250" dirty="0">
                <a:solidFill>
                  <a:srgbClr val="2B2B2B"/>
                </a:solidFill>
              </a:rPr>
              <a:t>Duplicate groups kept on one side of the split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Clr>
                <a:srgbClr val="1F3A5F"/>
              </a:buClr>
              <a:buFont typeface="Arial"/>
              <a:buChar char="●"/>
            </a:pPr>
            <a:r>
              <a:rPr lang="en-US" sz="1250" b="1" dirty="0">
                <a:solidFill>
                  <a:srgbClr val="2E7D46"/>
                </a:solidFill>
              </a:rPr>
              <a:t>2,929 held-out test images</a:t>
            </a:r>
          </a:p>
        </p:txBody>
      </p:sp>
      <p:sp>
        <p:nvSpPr>
          <p:cNvPr id="1009" name="DataCard2"/>
          <p:cNvSpPr/>
          <p:nvPr/>
        </p:nvSpPr>
        <p:spPr>
          <a:xfrm>
            <a:off x="8016240" y="1500000"/>
            <a:ext cx="3413760" cy="4780000"/>
          </a:xfrm>
          <a:prstGeom prst="roundRect">
            <a:avLst>
              <a:gd name="adj" fmla="val 4500"/>
            </a:avLst>
          </a:prstGeom>
          <a:solidFill>
            <a:srgbClr val="EEF2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0" name="Badge2"/>
          <p:cNvSpPr/>
          <p:nvPr/>
        </p:nvSpPr>
        <p:spPr>
          <a:xfrm>
            <a:off x="8276240" y="1760000"/>
            <a:ext cx="620000" cy="620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11" name="CardTitle2"/>
          <p:cNvSpPr/>
          <p:nvPr/>
        </p:nvSpPr>
        <p:spPr>
          <a:xfrm>
            <a:off x="9076240" y="1760000"/>
            <a:ext cx="2093760" cy="620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3A5F"/>
                </a:solidFill>
              </a:rPr>
              <a:t>Dataset Selection</a:t>
            </a:r>
          </a:p>
        </p:txBody>
      </p:sp>
      <p:sp>
        <p:nvSpPr>
          <p:cNvPr id="1012" name="CardBody2"/>
          <p:cNvSpPr/>
          <p:nvPr/>
        </p:nvSpPr>
        <p:spPr>
          <a:xfrm>
            <a:off x="8276240" y="2620000"/>
            <a:ext cx="2893760" cy="340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228600" indent="-228600">
              <a:lnSpc>
                <a:spcPct val="120000"/>
              </a:lnSpc>
              <a:spcAft>
                <a:spcPts val="1200"/>
              </a:spcAft>
              <a:buClr>
                <a:srgbClr val="1F3A5F"/>
              </a:buClr>
              <a:buFont typeface="Arial"/>
              <a:buChar char="●"/>
            </a:pPr>
            <a:r>
              <a:rPr lang="en-US" sz="1250" dirty="0">
                <a:solidFill>
                  <a:srgbClr val="2B2B2B"/>
                </a:solidFill>
              </a:rPr>
              <a:t>Third dataset evaluated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Clr>
                <a:srgbClr val="1F3A5F"/>
              </a:buClr>
              <a:buFont typeface="Arial"/>
              <a:buChar char="●"/>
            </a:pPr>
            <a:r>
              <a:rPr lang="en-US" sz="1250" b="1" dirty="0">
                <a:solidFill>
                  <a:srgbClr val="2E7D46"/>
                </a:solidFill>
              </a:rPr>
              <a:t>Near-duplicate contamination: 34.7% → 61.8%</a:t>
            </a:r>
          </a:p>
          <a:p>
            <a:pPr marL="228600" indent="-228600">
              <a:lnSpc>
                <a:spcPct val="120000"/>
              </a:lnSpc>
              <a:spcAft>
                <a:spcPts val="1200"/>
              </a:spcAft>
              <a:buClr>
                <a:srgbClr val="1F3A5F"/>
              </a:buClr>
              <a:buFont typeface="Arial"/>
              <a:buChar char="●"/>
            </a:pPr>
            <a:r>
              <a:rPr lang="en-US" sz="1250" dirty="0">
                <a:solidFill>
                  <a:srgbClr val="2B2B2B"/>
                </a:solidFill>
              </a:rPr>
              <a:t>Excluded due to limited genuine variety</a:t>
            </a:r>
          </a:p>
        </p:txBody>
      </p:sp>
    </p:spTree>
    <p:extLst>
      <p:ext uri="{BB962C8B-B14F-4D97-AF65-F5344CB8AC3E}">
        <p14:creationId xmlns:p14="http://schemas.microsoft.com/office/powerpoint/2010/main" val="159153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System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</a:rPr>
              <a:t>End-to-end flow: upload, grading, product-match check, dual-inspection decision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2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ABCA9E-925F-B256-D4B4-1AB6AD78B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85" y="1329641"/>
            <a:ext cx="11242669" cy="539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28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08623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The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1495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A Computer Vision Marketplace for Irish Organic Producers with Automated Produce Quality Grading</a:t>
            </a:r>
          </a:p>
        </p:txBody>
      </p:sp>
      <p:sp>
        <p:nvSpPr>
          <p:cNvPr id="1001" name="Tile0"/>
          <p:cNvSpPr/>
          <p:nvPr/>
        </p:nvSpPr>
        <p:spPr>
          <a:xfrm>
            <a:off x="1393830" y="1900000"/>
            <a:ext cx="1350000" cy="1350000"/>
          </a:xfrm>
          <a:prstGeom prst="roundRect">
            <a:avLst>
              <a:gd name="adj" fmla="val 2200"/>
            </a:avLst>
          </a:prstGeom>
          <a:solidFill>
            <a:srgbClr val="1F3A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02" name="Icon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830" y="2240000"/>
            <a:ext cx="670000" cy="670000"/>
          </a:xfrm>
          <a:prstGeom prst="rect">
            <a:avLst/>
          </a:prstGeom>
        </p:spPr>
      </p:pic>
      <p:sp>
        <p:nvSpPr>
          <p:cNvPr id="1003" name="BadgeBG0"/>
          <p:cNvSpPr/>
          <p:nvPr/>
        </p:nvSpPr>
        <p:spPr>
          <a:xfrm>
            <a:off x="1178830" y="1685000"/>
            <a:ext cx="430000" cy="43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4" name="BadgeNum0"/>
          <p:cNvSpPr/>
          <p:nvPr/>
        </p:nvSpPr>
        <p:spPr>
          <a:xfrm>
            <a:off x="1178830" y="1685000"/>
            <a:ext cx="430000" cy="430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3A5F"/>
                </a:solidFill>
              </a:rPr>
              <a:t>1</a:t>
            </a:r>
          </a:p>
        </p:txBody>
      </p:sp>
      <p:sp>
        <p:nvSpPr>
          <p:cNvPr id="1005" name="Title0"/>
          <p:cNvSpPr/>
          <p:nvPr/>
        </p:nvSpPr>
        <p:spPr>
          <a:xfrm>
            <a:off x="811520" y="3470000"/>
            <a:ext cx="2514620" cy="64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3A5F"/>
                </a:solidFill>
              </a:rPr>
              <a:t>Direct Marketplace</a:t>
            </a:r>
          </a:p>
        </p:txBody>
      </p:sp>
      <p:sp>
        <p:nvSpPr>
          <p:cNvPr id="1006" name="Kicker0"/>
          <p:cNvSpPr/>
          <p:nvPr/>
        </p:nvSpPr>
        <p:spPr>
          <a:xfrm>
            <a:off x="811520" y="4110000"/>
            <a:ext cx="251462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66666"/>
                </a:solidFill>
              </a:rPr>
              <a:t>Producer ↔ Buyer</a:t>
            </a:r>
          </a:p>
        </p:txBody>
      </p:sp>
      <p:sp>
        <p:nvSpPr>
          <p:cNvPr id="1007" name="Body0"/>
          <p:cNvSpPr/>
          <p:nvPr/>
        </p:nvSpPr>
        <p:spPr>
          <a:xfrm>
            <a:off x="791520" y="4490000"/>
            <a:ext cx="2554620" cy="120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Direct organic trade</a:t>
            </a:r>
          </a:p>
          <a:p>
            <a:pPr marL="0" indent="0" algn="ctr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Product listing &amp; ordering</a:t>
            </a:r>
          </a:p>
        </p:txBody>
      </p:sp>
      <p:sp>
        <p:nvSpPr>
          <p:cNvPr id="1008" name="Tile1"/>
          <p:cNvSpPr/>
          <p:nvPr/>
        </p:nvSpPr>
        <p:spPr>
          <a:xfrm>
            <a:off x="4068450" y="1900000"/>
            <a:ext cx="1350000" cy="1350000"/>
          </a:xfrm>
          <a:prstGeom prst="roundRect">
            <a:avLst>
              <a:gd name="adj" fmla="val 2200"/>
            </a:avLst>
          </a:prstGeom>
          <a:solidFill>
            <a:srgbClr val="2E7D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09" name="Icon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8450" y="2240000"/>
            <a:ext cx="670000" cy="670000"/>
          </a:xfrm>
          <a:prstGeom prst="rect">
            <a:avLst/>
          </a:prstGeom>
        </p:spPr>
      </p:pic>
      <p:sp>
        <p:nvSpPr>
          <p:cNvPr id="1010" name="BadgeBG1"/>
          <p:cNvSpPr/>
          <p:nvPr/>
        </p:nvSpPr>
        <p:spPr>
          <a:xfrm>
            <a:off x="3853450" y="1685000"/>
            <a:ext cx="430000" cy="43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1" name="BadgeNum1"/>
          <p:cNvSpPr/>
          <p:nvPr/>
        </p:nvSpPr>
        <p:spPr>
          <a:xfrm>
            <a:off x="3853450" y="1685000"/>
            <a:ext cx="430000" cy="430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7D46"/>
                </a:solidFill>
              </a:rPr>
              <a:t>2</a:t>
            </a:r>
          </a:p>
        </p:txBody>
      </p:sp>
      <p:sp>
        <p:nvSpPr>
          <p:cNvPr id="1012" name="Title1"/>
          <p:cNvSpPr/>
          <p:nvPr/>
        </p:nvSpPr>
        <p:spPr>
          <a:xfrm>
            <a:off x="3486140" y="3470000"/>
            <a:ext cx="2514620" cy="64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E7D46"/>
                </a:solidFill>
              </a:rPr>
              <a:t>Automated Quality Grading</a:t>
            </a:r>
          </a:p>
        </p:txBody>
      </p:sp>
      <p:sp>
        <p:nvSpPr>
          <p:cNvPr id="1013" name="Kicker1"/>
          <p:cNvSpPr/>
          <p:nvPr/>
        </p:nvSpPr>
        <p:spPr>
          <a:xfrm>
            <a:off x="3486140" y="4110000"/>
            <a:ext cx="251462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66666"/>
                </a:solidFill>
              </a:rPr>
              <a:t>Computer Vision</a:t>
            </a:r>
          </a:p>
        </p:txBody>
      </p:sp>
      <p:sp>
        <p:nvSpPr>
          <p:cNvPr id="1014" name="Body1"/>
          <p:cNvSpPr/>
          <p:nvPr/>
        </p:nvSpPr>
        <p:spPr>
          <a:xfrm>
            <a:off x="3466140" y="4490000"/>
            <a:ext cx="2554620" cy="120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Produce identification</a:t>
            </a:r>
          </a:p>
          <a:p>
            <a:pPr marL="0" indent="0" algn="ctr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Fresh / defective assessment</a:t>
            </a:r>
          </a:p>
        </p:txBody>
      </p:sp>
      <p:sp>
        <p:nvSpPr>
          <p:cNvPr id="1015" name="Tile2"/>
          <p:cNvSpPr/>
          <p:nvPr/>
        </p:nvSpPr>
        <p:spPr>
          <a:xfrm>
            <a:off x="6743070" y="1900000"/>
            <a:ext cx="1350000" cy="1350000"/>
          </a:xfrm>
          <a:prstGeom prst="roundRect">
            <a:avLst>
              <a:gd name="adj" fmla="val 22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16" name="Icon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070" y="2240000"/>
            <a:ext cx="670000" cy="670000"/>
          </a:xfrm>
          <a:prstGeom prst="rect">
            <a:avLst/>
          </a:prstGeom>
        </p:spPr>
      </p:pic>
      <p:sp>
        <p:nvSpPr>
          <p:cNvPr id="1017" name="BadgeBG2"/>
          <p:cNvSpPr/>
          <p:nvPr/>
        </p:nvSpPr>
        <p:spPr>
          <a:xfrm>
            <a:off x="6528070" y="1685000"/>
            <a:ext cx="430000" cy="43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8" name="BadgeNum2"/>
          <p:cNvSpPr/>
          <p:nvPr/>
        </p:nvSpPr>
        <p:spPr>
          <a:xfrm>
            <a:off x="6528070" y="1685000"/>
            <a:ext cx="430000" cy="430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28090"/>
                </a:solidFill>
              </a:rPr>
              <a:t>3</a:t>
            </a:r>
          </a:p>
        </p:txBody>
      </p:sp>
      <p:sp>
        <p:nvSpPr>
          <p:cNvPr id="1019" name="Title2"/>
          <p:cNvSpPr/>
          <p:nvPr/>
        </p:nvSpPr>
        <p:spPr>
          <a:xfrm>
            <a:off x="6160760" y="3470000"/>
            <a:ext cx="2514620" cy="64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28090"/>
                </a:solidFill>
              </a:rPr>
              <a:t>Dual Inspection</a:t>
            </a:r>
          </a:p>
        </p:txBody>
      </p:sp>
      <p:sp>
        <p:nvSpPr>
          <p:cNvPr id="1020" name="Kicker2"/>
          <p:cNvSpPr/>
          <p:nvPr/>
        </p:nvSpPr>
        <p:spPr>
          <a:xfrm>
            <a:off x="6160760" y="4110000"/>
            <a:ext cx="251462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66666"/>
                </a:solidFill>
              </a:rPr>
              <a:t>Dispatch ↔ Delivery</a:t>
            </a:r>
          </a:p>
        </p:txBody>
      </p:sp>
      <p:sp>
        <p:nvSpPr>
          <p:cNvPr id="1021" name="Body2"/>
          <p:cNvSpPr/>
          <p:nvPr/>
        </p:nvSpPr>
        <p:spPr>
          <a:xfrm>
            <a:off x="6140760" y="4490000"/>
            <a:ext cx="2554620" cy="120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Quality recorded at both stages</a:t>
            </a:r>
          </a:p>
          <a:p>
            <a:pPr marL="0" indent="0" algn="ctr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Variance-based verification</a:t>
            </a:r>
          </a:p>
        </p:txBody>
      </p:sp>
      <p:sp>
        <p:nvSpPr>
          <p:cNvPr id="1022" name="Tile3"/>
          <p:cNvSpPr/>
          <p:nvPr/>
        </p:nvSpPr>
        <p:spPr>
          <a:xfrm>
            <a:off x="9417690" y="1900000"/>
            <a:ext cx="1350000" cy="1350000"/>
          </a:xfrm>
          <a:prstGeom prst="roundRect">
            <a:avLst>
              <a:gd name="adj" fmla="val 2200"/>
            </a:avLst>
          </a:pr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23" name="Icon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7690" y="2240000"/>
            <a:ext cx="670000" cy="670000"/>
          </a:xfrm>
          <a:prstGeom prst="rect">
            <a:avLst/>
          </a:prstGeom>
        </p:spPr>
      </p:pic>
      <p:sp>
        <p:nvSpPr>
          <p:cNvPr id="1024" name="BadgeBG3"/>
          <p:cNvSpPr/>
          <p:nvPr/>
        </p:nvSpPr>
        <p:spPr>
          <a:xfrm>
            <a:off x="9202690" y="1685000"/>
            <a:ext cx="430000" cy="43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5" name="BadgeNum3"/>
          <p:cNvSpPr/>
          <p:nvPr/>
        </p:nvSpPr>
        <p:spPr>
          <a:xfrm>
            <a:off x="9202690" y="1685000"/>
            <a:ext cx="430000" cy="430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8860B"/>
                </a:solidFill>
              </a:rPr>
              <a:t>4</a:t>
            </a:r>
          </a:p>
        </p:txBody>
      </p:sp>
      <p:sp>
        <p:nvSpPr>
          <p:cNvPr id="1026" name="Title3"/>
          <p:cNvSpPr/>
          <p:nvPr/>
        </p:nvSpPr>
        <p:spPr>
          <a:xfrm>
            <a:off x="8835380" y="3470000"/>
            <a:ext cx="2514620" cy="64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8860B"/>
                </a:solidFill>
              </a:rPr>
              <a:t>Traceability</a:t>
            </a:r>
          </a:p>
        </p:txBody>
      </p:sp>
      <p:sp>
        <p:nvSpPr>
          <p:cNvPr id="1027" name="Kicker3"/>
          <p:cNvSpPr/>
          <p:nvPr/>
        </p:nvSpPr>
        <p:spPr>
          <a:xfrm>
            <a:off x="8835380" y="4110000"/>
            <a:ext cx="2514620" cy="32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66666"/>
                </a:solidFill>
              </a:rPr>
              <a:t>QR-based transaction history</a:t>
            </a:r>
          </a:p>
        </p:txBody>
      </p:sp>
      <p:sp>
        <p:nvSpPr>
          <p:cNvPr id="1028" name="Body3"/>
          <p:cNvSpPr/>
          <p:nvPr/>
        </p:nvSpPr>
        <p:spPr>
          <a:xfrm>
            <a:off x="8815380" y="4490000"/>
            <a:ext cx="2554620" cy="120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Link product to inspection</a:t>
            </a:r>
          </a:p>
          <a:p>
            <a:pPr marL="0" indent="0" algn="ctr">
              <a:lnSpc>
                <a:spcPct val="12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2B2B2B"/>
                </a:solidFill>
              </a:rPr>
              <a:t>Support transaction evidence</a:t>
            </a:r>
          </a:p>
        </p:txBody>
      </p:sp>
      <p:sp>
        <p:nvSpPr>
          <p:cNvPr id="1029" name="Arrow0"/>
          <p:cNvSpPr/>
          <p:nvPr/>
        </p:nvSpPr>
        <p:spPr>
          <a:xfrm>
            <a:off x="3206140" y="2425000"/>
            <a:ext cx="400000" cy="3000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BBBBB"/>
                </a:solidFill>
              </a:rPr>
              <a:t>→</a:t>
            </a:r>
          </a:p>
        </p:txBody>
      </p:sp>
      <p:sp>
        <p:nvSpPr>
          <p:cNvPr id="1030" name="Arrow1"/>
          <p:cNvSpPr/>
          <p:nvPr/>
        </p:nvSpPr>
        <p:spPr>
          <a:xfrm>
            <a:off x="5880760" y="2425000"/>
            <a:ext cx="400000" cy="3000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BBBBB"/>
                </a:solidFill>
              </a:rPr>
              <a:t>→</a:t>
            </a:r>
          </a:p>
        </p:txBody>
      </p:sp>
      <p:sp>
        <p:nvSpPr>
          <p:cNvPr id="1031" name="Arrow2"/>
          <p:cNvSpPr/>
          <p:nvPr/>
        </p:nvSpPr>
        <p:spPr>
          <a:xfrm>
            <a:off x="8555380" y="2425000"/>
            <a:ext cx="400000" cy="3000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BBBBBB"/>
                </a:solidFill>
              </a:rPr>
              <a:t>→</a:t>
            </a:r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4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58747F-C541-F1EE-EA66-D0F80DACFA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95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Core Contribution: Dual-Inspection Variance Protocol</a:t>
            </a:r>
            <a:endParaRPr lang="en-US" sz="2600" dirty="0"/>
          </a:p>
        </p:txBody>
      </p:sp>
      <p:pic>
        <p:nvPicPr>
          <p:cNvPr id="3" name="Image 0" descr="/mnt/user-data/uploads/fig_4_3_dual_inspection_fl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1463040"/>
            <a:ext cx="850392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E7D46"/>
                </a:solidFill>
              </a:rPr>
              <a:t>Produce is graded at dispatch and again at delivery. If quality drops beyond tolerance, the transaction is automatically flagged, payment is held, and negotiation opens — replacing subjective disagreement with objective evidence.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5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D4A67F-AD53-3D74-4AEE-978517CC3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The Computer Vision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4444"/>
                </a:solidFill>
              </a:rPr>
              <a:t>Multi-head ResNet-18: one shared backbone, two Headed</a:t>
            </a:r>
            <a:endParaRPr lang="en-US" sz="1400" dirty="0"/>
          </a:p>
        </p:txBody>
      </p:sp>
      <p:pic>
        <p:nvPicPr>
          <p:cNvPr id="4" name="Image 0" descr="/mnt/user-data/uploads/fig_3_2_multi_head_mode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63040" y="1737360"/>
            <a:ext cx="923544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6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312979-2C76-0652-72A0-AE5509256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8813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The Platform</a:t>
            </a:r>
            <a:endParaRPr lang="en-US" sz="2600" dirty="0"/>
          </a:p>
        </p:txBody>
      </p:sp>
      <p:pic>
        <p:nvPicPr>
          <p:cNvPr id="3" name="Image 0" descr="/mnt/user-data/uploads/05_single_grad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4855" y="777766"/>
            <a:ext cx="5762425" cy="56687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478417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44444"/>
                </a:solidFill>
              </a:rPr>
              <a:t>Single-item grading (Grade A, colour metrics)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172200" y="6478417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44444"/>
                </a:solidFill>
              </a:rPr>
              <a:t>Bulk grading (per-item detection)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1153195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4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7E42FA-F2C1-F256-1255-F88E4FED0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280" y="777766"/>
            <a:ext cx="5821360" cy="566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59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/mnt/user-data/uploads/02_admin_verify.png">
            <a:extLst>
              <a:ext uri="{FF2B5EF4-FFF2-40B4-BE49-F238E27FC236}">
                <a16:creationId xmlns:a16="http://schemas.microsoft.com/office/drawing/2014/main" id="{523914C6-F4EA-4F51-183F-43173946FE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515007"/>
            <a:ext cx="5914538" cy="582798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6429EA29-52D1-F7AF-503F-67CEA836A11E}"/>
              </a:ext>
            </a:extLst>
          </p:cNvPr>
          <p:cNvSpPr/>
          <p:nvPr/>
        </p:nvSpPr>
        <p:spPr>
          <a:xfrm>
            <a:off x="640080" y="651967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44444"/>
                </a:solidFill>
              </a:rPr>
              <a:t>Dual-inspection variance flagged</a:t>
            </a:r>
            <a:endParaRPr lang="en-US" sz="11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82E6278-96D2-FA57-1093-47049696245E}"/>
              </a:ext>
            </a:extLst>
          </p:cNvPr>
          <p:cNvSpPr/>
          <p:nvPr/>
        </p:nvSpPr>
        <p:spPr>
          <a:xfrm>
            <a:off x="6172200" y="651967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44444"/>
                </a:solidFill>
              </a:rPr>
              <a:t>QR traceability passport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732047-919C-E165-58AC-B12C0F380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538" y="515006"/>
            <a:ext cx="6377151" cy="582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332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4444"/>
                </a:solidFill>
              </a:rPr>
              <a:t>Held-out test set, two curated datasets - evaluated honestly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3A5F"/>
                </a:solidFill>
              </a:rPr>
              <a:t>96.8%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Product identification accuracy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0" y="1600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3A5F"/>
                </a:solidFill>
              </a:rPr>
              <a:t>98.3%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206240" y="2651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Quality assessment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80960" y="160020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3A5F"/>
                </a:solidFill>
              </a:rPr>
              <a:t>34.7%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680960" y="2651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Near-duplicates found &amp; controlled for via leakage-free split — confirming genuine generalisation</a:t>
            </a:r>
            <a:endParaRPr lang="en-US" sz="1200" dirty="0"/>
          </a:p>
        </p:txBody>
      </p:sp>
      <p:pic>
        <p:nvPicPr>
          <p:cNvPr id="10" name="Image 0" descr="/mnt/user-data/uploads/fig_per_product_f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3429000"/>
            <a:ext cx="5760720" cy="2834640"/>
          </a:xfrm>
          <a:prstGeom prst="rect">
            <a:avLst/>
          </a:prstGeom>
        </p:spPr>
      </p:pic>
      <p:pic>
        <p:nvPicPr>
          <p:cNvPr id="11" name="Image 1" descr="/mnt/user-data/uploads/fig_confusion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2240" y="3429000"/>
            <a:ext cx="530352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8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4B21EB4-E215-A9D0-6351-932222251F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1001" name="TechCard1_0"/>
          <p:cNvSpPr/>
          <p:nvPr/>
        </p:nvSpPr>
        <p:spPr>
          <a:xfrm>
            <a:off x="731520" y="1420000"/>
            <a:ext cx="3413760" cy="20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TechLabel1_0"/>
          <p:cNvSpPr/>
          <p:nvPr/>
        </p:nvSpPr>
        <p:spPr>
          <a:xfrm>
            <a:off x="991520" y="1680000"/>
            <a:ext cx="2893760" cy="38000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2E7D46"/>
                </a:solidFill>
              </a:rPr>
              <a:t>BACKEND</a:t>
            </a:r>
          </a:p>
        </p:txBody>
      </p:sp>
      <p:sp>
        <p:nvSpPr>
          <p:cNvPr id="1003" name="TechDesc1_0"/>
          <p:cNvSpPr/>
          <p:nvPr/>
        </p:nvSpPr>
        <p:spPr>
          <a:xfrm>
            <a:off x="991520" y="2100000"/>
            <a:ext cx="2893760" cy="111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2B2B2B"/>
                </a:solidFill>
              </a:rPr>
              <a:t>Python, FastAPI, JWT authentication, SQLAlchemy ORM</a:t>
            </a:r>
          </a:p>
        </p:txBody>
      </p:sp>
      <p:sp>
        <p:nvSpPr>
          <p:cNvPr id="1004" name="TechCard1_1"/>
          <p:cNvSpPr/>
          <p:nvPr/>
        </p:nvSpPr>
        <p:spPr>
          <a:xfrm>
            <a:off x="4373880" y="1420000"/>
            <a:ext cx="3413760" cy="20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5" name="TechLabel1_1"/>
          <p:cNvSpPr/>
          <p:nvPr/>
        </p:nvSpPr>
        <p:spPr>
          <a:xfrm>
            <a:off x="4633880" y="1680000"/>
            <a:ext cx="2893760" cy="38000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2E7D46"/>
                </a:solidFill>
              </a:rPr>
              <a:t>FRONTEND</a:t>
            </a:r>
          </a:p>
        </p:txBody>
      </p:sp>
      <p:sp>
        <p:nvSpPr>
          <p:cNvPr id="1006" name="TechDesc1_1"/>
          <p:cNvSpPr/>
          <p:nvPr/>
        </p:nvSpPr>
        <p:spPr>
          <a:xfrm>
            <a:off x="4633880" y="2100000"/>
            <a:ext cx="2893760" cy="111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2B2B2B"/>
                </a:solidFill>
              </a:rPr>
              <a:t>React (single-page application)</a:t>
            </a:r>
          </a:p>
        </p:txBody>
      </p:sp>
      <p:sp>
        <p:nvSpPr>
          <p:cNvPr id="1007" name="TechCard1_2"/>
          <p:cNvSpPr/>
          <p:nvPr/>
        </p:nvSpPr>
        <p:spPr>
          <a:xfrm>
            <a:off x="8016240" y="1420000"/>
            <a:ext cx="3413760" cy="20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8" name="TechLabel1_2"/>
          <p:cNvSpPr/>
          <p:nvPr/>
        </p:nvSpPr>
        <p:spPr>
          <a:xfrm>
            <a:off x="8276240" y="1680000"/>
            <a:ext cx="2893760" cy="38000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2E7D46"/>
                </a:solidFill>
              </a:rPr>
              <a:t>DATABASE</a:t>
            </a:r>
          </a:p>
        </p:txBody>
      </p:sp>
      <p:sp>
        <p:nvSpPr>
          <p:cNvPr id="1009" name="TechDesc1_2"/>
          <p:cNvSpPr/>
          <p:nvPr/>
        </p:nvSpPr>
        <p:spPr>
          <a:xfrm>
            <a:off x="8276240" y="2100000"/>
            <a:ext cx="2893760" cy="111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2B2B2B"/>
                </a:solidFill>
              </a:rPr>
              <a:t>PostgreSQL</a:t>
            </a:r>
          </a:p>
        </p:txBody>
      </p:sp>
      <p:sp>
        <p:nvSpPr>
          <p:cNvPr id="1010" name="TechCard2_0"/>
          <p:cNvSpPr/>
          <p:nvPr/>
        </p:nvSpPr>
        <p:spPr>
          <a:xfrm>
            <a:off x="731520" y="3720000"/>
            <a:ext cx="5234940" cy="20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1" name="TechLabel2_0"/>
          <p:cNvSpPr/>
          <p:nvPr/>
        </p:nvSpPr>
        <p:spPr>
          <a:xfrm>
            <a:off x="991520" y="3980000"/>
            <a:ext cx="4714940" cy="38000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2E7D46"/>
                </a:solidFill>
              </a:rPr>
              <a:t>COMPUTER VISION</a:t>
            </a:r>
          </a:p>
        </p:txBody>
      </p:sp>
      <p:sp>
        <p:nvSpPr>
          <p:cNvPr id="1012" name="TechDesc2_0"/>
          <p:cNvSpPr/>
          <p:nvPr/>
        </p:nvSpPr>
        <p:spPr>
          <a:xfrm>
            <a:off x="991520" y="4400000"/>
            <a:ext cx="4714940" cy="111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2B2B2B"/>
                </a:solidFill>
              </a:rPr>
              <a:t>PyTorch (ResNet-18 multi-head classifier), YOLOv8 (object detection), OpenCV (classical scoring)</a:t>
            </a:r>
          </a:p>
        </p:txBody>
      </p:sp>
      <p:sp>
        <p:nvSpPr>
          <p:cNvPr id="1013" name="TechCard2_1"/>
          <p:cNvSpPr/>
          <p:nvPr/>
        </p:nvSpPr>
        <p:spPr>
          <a:xfrm>
            <a:off x="6195060" y="3720000"/>
            <a:ext cx="5234940" cy="20500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4" name="TechLabel2_1"/>
          <p:cNvSpPr/>
          <p:nvPr/>
        </p:nvSpPr>
        <p:spPr>
          <a:xfrm>
            <a:off x="6455060" y="3980000"/>
            <a:ext cx="4714940" cy="38000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2E7D46"/>
                </a:solidFill>
              </a:rPr>
              <a:t>OTHER</a:t>
            </a:r>
          </a:p>
        </p:txBody>
      </p:sp>
      <p:sp>
        <p:nvSpPr>
          <p:cNvPr id="1015" name="TechDesc2_1"/>
          <p:cNvSpPr/>
          <p:nvPr/>
        </p:nvSpPr>
        <p:spPr>
          <a:xfrm>
            <a:off x="6455060" y="4400000"/>
            <a:ext cx="4714940" cy="1110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2B2B2B"/>
                </a:solidFill>
              </a:rPr>
              <a:t>ReportLab (PDF invoices), perceptual hashing (dataset deduplication), Docker (containerisation)</a:t>
            </a:r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7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B6952A-E341-7936-2DFE-6D4F77160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384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6644"/>
            <a:ext cx="695775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On Quality: Limitations &amp; Evaluation Integrity</a:t>
            </a:r>
            <a:endParaRPr lang="en-US" sz="2600" dirty="0"/>
          </a:p>
        </p:txBody>
      </p:sp>
      <p:sp>
        <p:nvSpPr>
          <p:cNvPr id="1001" name="IconBG0"/>
          <p:cNvSpPr/>
          <p:nvPr/>
        </p:nvSpPr>
        <p:spPr>
          <a:xfrm>
            <a:off x="731520" y="1953333"/>
            <a:ext cx="620000" cy="620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02" name="Icon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20" y="2083333"/>
            <a:ext cx="360000" cy="360000"/>
          </a:xfrm>
          <a:prstGeom prst="rect">
            <a:avLst/>
          </a:prstGeom>
        </p:spPr>
      </p:pic>
      <p:sp>
        <p:nvSpPr>
          <p:cNvPr id="1003" name="Text0"/>
          <p:cNvSpPr/>
          <p:nvPr/>
        </p:nvSpPr>
        <p:spPr>
          <a:xfrm>
            <a:off x="1571520" y="1620000"/>
            <a:ext cx="4259240" cy="14866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3A5F"/>
                </a:solidFill>
              </a:rPr>
              <a:t>Detection limits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B2B2B"/>
                </a:solidFill>
              </a:rPr>
              <a:t>Dense, overlapping produce is harder to detect cleanly — future work: instance segmentation</a:t>
            </a:r>
          </a:p>
        </p:txBody>
      </p:sp>
      <p:sp>
        <p:nvSpPr>
          <p:cNvPr id="1004" name="IconBG1"/>
          <p:cNvSpPr/>
          <p:nvPr/>
        </p:nvSpPr>
        <p:spPr>
          <a:xfrm>
            <a:off x="6330760" y="1953333"/>
            <a:ext cx="620000" cy="620000"/>
          </a:xfrm>
          <a:prstGeom prst="ellipse">
            <a:avLst/>
          </a:prstGeom>
          <a:solidFill>
            <a:srgbClr val="2E7D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05" name="Icon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760" y="2083333"/>
            <a:ext cx="360000" cy="360000"/>
          </a:xfrm>
          <a:prstGeom prst="rect">
            <a:avLst/>
          </a:prstGeom>
        </p:spPr>
      </p:pic>
      <p:sp>
        <p:nvSpPr>
          <p:cNvPr id="1006" name="Text1"/>
          <p:cNvSpPr/>
          <p:nvPr/>
        </p:nvSpPr>
        <p:spPr>
          <a:xfrm>
            <a:off x="7170760" y="1620000"/>
            <a:ext cx="4259240" cy="14866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7D46"/>
                </a:solidFill>
              </a:rPr>
              <a:t>Data availability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B2B2B"/>
                </a:solidFill>
              </a:rPr>
              <a:t>Some products (carrot, mango) grade less reliably — a data-availability limitation, not a design flaw</a:t>
            </a:r>
          </a:p>
        </p:txBody>
      </p:sp>
      <p:sp>
        <p:nvSpPr>
          <p:cNvPr id="1007" name="IconBG2"/>
          <p:cNvSpPr/>
          <p:nvPr/>
        </p:nvSpPr>
        <p:spPr>
          <a:xfrm>
            <a:off x="731520" y="3559999"/>
            <a:ext cx="620000" cy="620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08" name="Icon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520" y="3689999"/>
            <a:ext cx="360000" cy="360000"/>
          </a:xfrm>
          <a:prstGeom prst="rect">
            <a:avLst/>
          </a:prstGeom>
        </p:spPr>
      </p:pic>
      <p:sp>
        <p:nvSpPr>
          <p:cNvPr id="1009" name="Text2"/>
          <p:cNvSpPr/>
          <p:nvPr/>
        </p:nvSpPr>
        <p:spPr>
          <a:xfrm>
            <a:off x="1571520" y="3226666"/>
            <a:ext cx="4259240" cy="14866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28090"/>
                </a:solidFill>
              </a:rPr>
              <a:t>Visual similarity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B2B2B"/>
                </a:solidFill>
              </a:rPr>
              <a:t>Visually similar produce (apple / tomato) is occasionally confused</a:t>
            </a:r>
          </a:p>
        </p:txBody>
      </p:sp>
      <p:sp>
        <p:nvSpPr>
          <p:cNvPr id="1010" name="IconBG3"/>
          <p:cNvSpPr/>
          <p:nvPr/>
        </p:nvSpPr>
        <p:spPr>
          <a:xfrm>
            <a:off x="6330760" y="3559999"/>
            <a:ext cx="620000" cy="6200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11" name="Icon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760" y="3689999"/>
            <a:ext cx="360000" cy="360000"/>
          </a:xfrm>
          <a:prstGeom prst="rect">
            <a:avLst/>
          </a:prstGeom>
        </p:spPr>
      </p:pic>
      <p:sp>
        <p:nvSpPr>
          <p:cNvPr id="1012" name="Text3"/>
          <p:cNvSpPr/>
          <p:nvPr/>
        </p:nvSpPr>
        <p:spPr>
          <a:xfrm>
            <a:off x="7170760" y="3226666"/>
            <a:ext cx="4259240" cy="14866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860B"/>
                </a:solidFill>
              </a:rPr>
              <a:t>Training data scope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B2B2B"/>
                </a:solidFill>
              </a:rPr>
              <a:t>Only two datasets used; a third was excluded after near-duplicate contamination rose from 34.7% to 61.8%</a:t>
            </a:r>
          </a:p>
        </p:txBody>
      </p:sp>
      <p:sp>
        <p:nvSpPr>
          <p:cNvPr id="1013" name="IconBG4"/>
          <p:cNvSpPr/>
          <p:nvPr/>
        </p:nvSpPr>
        <p:spPr>
          <a:xfrm>
            <a:off x="731520" y="5166665"/>
            <a:ext cx="620000" cy="6200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14" name="Icon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520" y="5296665"/>
            <a:ext cx="360000" cy="360000"/>
          </a:xfrm>
          <a:prstGeom prst="rect">
            <a:avLst/>
          </a:prstGeom>
        </p:spPr>
      </p:pic>
      <p:sp>
        <p:nvSpPr>
          <p:cNvPr id="1015" name="Text4"/>
          <p:cNvSpPr/>
          <p:nvPr/>
        </p:nvSpPr>
        <p:spPr>
          <a:xfrm>
            <a:off x="1571520" y="4833332"/>
            <a:ext cx="4259240" cy="14866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3A5F"/>
                </a:solidFill>
              </a:rPr>
              <a:t>Design boundary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B2B2B"/>
                </a:solidFill>
              </a:rPr>
              <a:t>Quality is graded by computer vision; organic provenance is verified separately by certificate and admin approval</a:t>
            </a:r>
          </a:p>
        </p:txBody>
      </p:sp>
      <p:sp>
        <p:nvSpPr>
          <p:cNvPr id="1016" name="IconBG5"/>
          <p:cNvSpPr/>
          <p:nvPr/>
        </p:nvSpPr>
        <p:spPr>
          <a:xfrm>
            <a:off x="6330760" y="5166665"/>
            <a:ext cx="620000" cy="620000"/>
          </a:xfrm>
          <a:prstGeom prst="ellipse">
            <a:avLst/>
          </a:prstGeom>
          <a:solidFill>
            <a:srgbClr val="2E7D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17" name="Icon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0760" y="5296665"/>
            <a:ext cx="360000" cy="360000"/>
          </a:xfrm>
          <a:prstGeom prst="rect">
            <a:avLst/>
          </a:prstGeom>
        </p:spPr>
      </p:pic>
      <p:sp>
        <p:nvSpPr>
          <p:cNvPr id="1018" name="Text5"/>
          <p:cNvSpPr/>
          <p:nvPr/>
        </p:nvSpPr>
        <p:spPr>
          <a:xfrm>
            <a:off x="7170760" y="4833332"/>
            <a:ext cx="4259240" cy="14866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E7D46"/>
                </a:solidFill>
              </a:rPr>
              <a:t>Photo conditions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B2B2B"/>
                </a:solidFill>
              </a:rPr>
              <a:t>Reliability depends on reasonable photographic conditions</a:t>
            </a:r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9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5A1E63-0202-1081-A51E-DFDC88011A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00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6644"/>
            <a:ext cx="6957753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On Quality: Limitations &amp; Evaluation Integrity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Dense, overlapping produce is harder to detect cleanly - future work: instance segmentation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Some products (carrot, Mango) grade less reliably - a data-availability limitation, not a design flaw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Visually similar produce (apple / tomato) is occasionally confused 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Only two datasets used for training; a third was assessed and excluded after raising near-duplicate contamination from 34.7% to 61.8%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Quality is graded by computer vision; organic provenance is verified separately by certificate and admin approval - a deliberate design boundary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</a:rPr>
              <a:t>Reliability depends on reasonable photographic conditions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9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5A1E63-0202-1081-A51E-DFDC88011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053" y="41959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24449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</a:rPr>
              <a:t>Conclusion &amp; Future 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</a:rPr>
              <a:t>A working, honestly evaluated trust layer for direct organic trade in Ireland</a:t>
            </a:r>
            <a:endParaRPr lang="en-US" sz="2000" b="1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</a:rPr>
              <a:t>Novel dual-inspection protocol for objective, evidence-based dispute resolution</a:t>
            </a:r>
            <a:endParaRPr lang="en-US" sz="2000" b="1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</a:rPr>
              <a:t>Future: instance segmentation for dense piles, more training data for weaker products</a:t>
            </a:r>
            <a:endParaRPr lang="en-US" sz="2000" b="1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222222"/>
                </a:solidFill>
              </a:rPr>
              <a:t>Future: real payment integration, cloud deployment, certificate-based path for meat and dairy</a:t>
            </a:r>
            <a:endParaRPr lang="en-US" sz="2000" b="1" dirty="0"/>
          </a:p>
        </p:txBody>
      </p:sp>
      <p:sp>
        <p:nvSpPr>
          <p:cNvPr id="4" name="Text 2"/>
          <p:cNvSpPr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46"/>
                </a:solidFill>
              </a:rPr>
              <a:t>Thank you 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2E7D46"/>
                </a:solidFill>
              </a:rPr>
              <a:t>Questions?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</a:rPr>
              <a:t>10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216724-6640-B1C3-AD39-7C341BC42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722" y="23297"/>
            <a:ext cx="2342947" cy="12884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MEng_Spring_Presentation_Template</Template>
  <TotalTime>408</TotalTime>
  <Words>1063</Words>
  <Application>Microsoft Office PowerPoint</Application>
  <PresentationFormat>Widescreen</PresentationFormat>
  <Paragraphs>175</Paragraphs>
  <Slides>16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OrganicLink   A Computer Vision Marketplace for Irish Organic Producers with Automated Produce Quality Grading  Aashrith Sai Yamsani Student ID : 25287419 Supervisor: Dr. Elfed Lewis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AASHRITH SAI YAMSANI</cp:lastModifiedBy>
  <cp:revision>23</cp:revision>
  <dcterms:created xsi:type="dcterms:W3CDTF">2026-08-18T19:39:39Z</dcterms:created>
  <dcterms:modified xsi:type="dcterms:W3CDTF">2026-08-19T17:41:00Z</dcterms:modified>
</cp:coreProperties>
</file>